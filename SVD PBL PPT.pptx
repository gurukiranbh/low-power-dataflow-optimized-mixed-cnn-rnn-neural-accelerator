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56" r:id="rId2"/>
    <p:sldId id="263" r:id="rId3"/>
    <p:sldId id="280" r:id="rId4"/>
    <p:sldId id="407" r:id="rId5"/>
    <p:sldId id="408" r:id="rId6"/>
    <p:sldId id="395" r:id="rId7"/>
    <p:sldId id="261" r:id="rId8"/>
    <p:sldId id="264" r:id="rId9"/>
    <p:sldId id="426" r:id="rId10"/>
    <p:sldId id="425" r:id="rId11"/>
    <p:sldId id="427" r:id="rId12"/>
    <p:sldId id="428" r:id="rId13"/>
    <p:sldId id="430" r:id="rId14"/>
    <p:sldId id="429" r:id="rId15"/>
    <p:sldId id="433" r:id="rId16"/>
    <p:sldId id="431" r:id="rId17"/>
    <p:sldId id="432" r:id="rId18"/>
    <p:sldId id="396" r:id="rId19"/>
    <p:sldId id="34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EDE"/>
    <a:srgbClr val="EFFEDA"/>
    <a:srgbClr val="F0F0F0"/>
    <a:srgbClr val="FFD961"/>
    <a:srgbClr val="FFECAF"/>
    <a:srgbClr val="AFFFD3"/>
    <a:srgbClr val="FCB6B6"/>
    <a:srgbClr val="B3FFBC"/>
    <a:srgbClr val="B3FFD4"/>
    <a:srgbClr val="EED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0E55B-B838-E0CE-B715-613AB053560C}" v="9" dt="2025-06-12T01:42:13.930"/>
    <p1510:client id="{5B002E8E-D088-4090-9A06-BAE51206D2DC}" v="2251" dt="2025-06-12T04:36:37.232"/>
    <p1510:client id="{6AF667BF-C47A-F81D-C351-37EAD097280C}" v="22" dt="2025-06-11T18:57:02.596"/>
    <p1510:client id="{AC564E17-60AB-E4EA-2024-03BAFE8554BD}" v="178" dt="2025-06-11T17:27:06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7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181FF8FD-E8BF-58C7-86D6-4C4D3685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80D65981-ADD2-3494-CB1B-9EC55FF07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9041B600-D068-D262-A62B-AC15D3007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393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A089C2A-D8BD-DDEA-C42C-82685423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5D3A9A56-868D-511C-FF11-357A42CC9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>
            <a:extLst>
              <a:ext uri="{FF2B5EF4-FFF2-40B4-BE49-F238E27FC236}">
                <a16:creationId xmlns:a16="http://schemas.microsoft.com/office/drawing/2014/main" id="{3A43E811-B44A-BDE0-5462-86DB494BF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3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C2F7E9D9-3396-1302-FBF7-368167AD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>
            <a:extLst>
              <a:ext uri="{FF2B5EF4-FFF2-40B4-BE49-F238E27FC236}">
                <a16:creationId xmlns:a16="http://schemas.microsoft.com/office/drawing/2014/main" id="{8DF01B09-2D8A-E221-AC91-4E6E3D8C2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>
            <a:extLst>
              <a:ext uri="{FF2B5EF4-FFF2-40B4-BE49-F238E27FC236}">
                <a16:creationId xmlns:a16="http://schemas.microsoft.com/office/drawing/2014/main" id="{1DA9CFC6-56A4-5FEB-3278-8A6B42AC6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99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BCB42CD5-EC48-30D6-21EB-3663BF7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C37906AD-0CD6-5C5A-E17B-40F139056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FAEC8DCD-88B2-37AE-DA63-92B8695F0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703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73F3C115-CFEF-979B-48B9-A74CDFFA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2A144D95-AC4E-EB80-5D94-5173D0C4E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8C3A4ABC-AD89-7B4D-1665-19CDA5EB8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550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4A698E57-EDF6-FD3E-FDA0-1BF45B46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0532A9BD-FAFD-DB95-7182-74AF3885F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D1AE9BCF-74CB-B52C-8937-2A48DFEC6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175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1C5EA600-A04A-3CF2-A838-74617629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2844113C-5F49-1A48-C74C-34FE55593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D2B67617-0594-22DA-5CD9-43153BC54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10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9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131110" y="943712"/>
            <a:ext cx="8881783" cy="36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/>
          <p:nvPr/>
        </p:nvSpPr>
        <p:spPr>
          <a:xfrm>
            <a:off x="3791697" y="4803855"/>
            <a:ext cx="1560605" cy="1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05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57320"/>
            <a:ext cx="1655629" cy="7482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3446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CC012-ECFB-501B-BD9D-B0DE7BEAC83A}"/>
              </a:ext>
            </a:extLst>
          </p:cNvPr>
          <p:cNvSpPr txBox="1"/>
          <p:nvPr/>
        </p:nvSpPr>
        <p:spPr>
          <a:xfrm>
            <a:off x="1160817" y="1294322"/>
            <a:ext cx="68223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Low-Power Dataflow-Optimized  Datapath for Mixed Neural Acceleration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214980-EF51-6B6A-E3EF-7899801E1603}"/>
              </a:ext>
            </a:extLst>
          </p:cNvPr>
          <p:cNvSpPr txBox="1"/>
          <p:nvPr/>
        </p:nvSpPr>
        <p:spPr>
          <a:xfrm>
            <a:off x="2988874" y="4114166"/>
            <a:ext cx="3166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/>
              <a:t>Experiential Learning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45DD20-0A68-1482-4651-7FCE0B343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67091" y="3085956"/>
            <a:ext cx="1978959" cy="2136128"/>
            <a:chOff x="0" y="12289"/>
            <a:chExt cx="3550" cy="3551"/>
          </a:xfrm>
          <a:solidFill>
            <a:srgbClr val="F0F0F0"/>
          </a:solidFill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683089F6-145C-809C-2E9A-65F3335F2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352D6671-20E8-BDAA-D70C-51603353E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5947B60B-8C8F-588C-1E4A-C15D2F12A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rgbClr val="259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AC838D5-00D9-9B35-65BA-E603560EA3EB}"/>
              </a:ext>
            </a:extLst>
          </p:cNvPr>
          <p:cNvSpPr txBox="1"/>
          <p:nvPr/>
        </p:nvSpPr>
        <p:spPr>
          <a:xfrm>
            <a:off x="971177" y="3008098"/>
            <a:ext cx="25673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JAYASRI JAWAHAR SRIPATHY</a:t>
            </a:r>
          </a:p>
          <a:p>
            <a:pPr algn="ctr"/>
            <a:r>
              <a:rPr lang="en-IN" dirty="0"/>
              <a:t>1RV23EC059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A35CD-A595-9630-56FC-221B3B432474}"/>
              </a:ext>
            </a:extLst>
          </p:cNvPr>
          <p:cNvSpPr txBox="1"/>
          <p:nvPr/>
        </p:nvSpPr>
        <p:spPr>
          <a:xfrm>
            <a:off x="5824975" y="2976357"/>
            <a:ext cx="1991360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dirty="0"/>
              <a:t>GURUKIRAN B H 1RV24EC404</a:t>
            </a:r>
          </a:p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F40A2-75EE-37BC-3A3A-A224E556984B}"/>
              </a:ext>
            </a:extLst>
          </p:cNvPr>
          <p:cNvSpPr txBox="1"/>
          <p:nvPr/>
        </p:nvSpPr>
        <p:spPr>
          <a:xfrm>
            <a:off x="3820373" y="3008098"/>
            <a:ext cx="15032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KRISHNA SAINI</a:t>
            </a:r>
          </a:p>
          <a:p>
            <a:pPr algn="ctr"/>
            <a:r>
              <a:rPr lang="en-IN" dirty="0"/>
              <a:t>1RV23EC069</a:t>
            </a:r>
          </a:p>
          <a:p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B0472C-B362-B1F2-C078-C69725820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5400000" flipV="1">
            <a:off x="7086457" y="-78585"/>
            <a:ext cx="1978959" cy="2136128"/>
            <a:chOff x="0" y="12289"/>
            <a:chExt cx="3550" cy="3551"/>
          </a:xfrm>
          <a:solidFill>
            <a:srgbClr val="F0F0F0"/>
          </a:solidFill>
        </p:grpSpPr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F68C129-1A65-E3C3-6D77-E798106AC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E642C01C-69EB-CD0D-EE2A-BA547BE8C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729B9610-3314-4410-87D2-B6D6F5C70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rgbClr val="259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22E945EA-036D-DAFE-5371-74655549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C9B55C-6C72-CA74-8670-918E9DE900CE}"/>
              </a:ext>
            </a:extLst>
          </p:cNvPr>
          <p:cNvSpPr txBox="1"/>
          <p:nvPr/>
        </p:nvSpPr>
        <p:spPr>
          <a:xfrm>
            <a:off x="2951338" y="266475"/>
            <a:ext cx="29803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DF2E8-62C5-440A-31D4-F01B4058EB6A}"/>
              </a:ext>
            </a:extLst>
          </p:cNvPr>
          <p:cNvSpPr txBox="1"/>
          <p:nvPr/>
        </p:nvSpPr>
        <p:spPr>
          <a:xfrm>
            <a:off x="0" y="3720113"/>
            <a:ext cx="3981805" cy="13620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Fixed Precision and Power Usage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/>
              <a:t>Most accelerators always use full precision, even when lower precision is sufficient. This leads to unnecessary power consumption, especially on edge devices.</a:t>
            </a:r>
          </a:p>
          <a:p>
            <a:pPr algn="ctr"/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75AF5-6A29-FF68-0FCE-158D1841472A}"/>
              </a:ext>
            </a:extLst>
          </p:cNvPr>
          <p:cNvSpPr txBox="1"/>
          <p:nvPr/>
        </p:nvSpPr>
        <p:spPr>
          <a:xfrm>
            <a:off x="343043" y="863388"/>
            <a:ext cx="86007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Modern AI applications such as image recognition, speech processing, and video analytics use deep neural networks that perform a large number of multiply–accumulate (MAC) operations during inference. To run these networks efficiently, many hardware accelerators have been developed.</a:t>
            </a:r>
          </a:p>
          <a:p>
            <a:pPr algn="just"/>
            <a:endParaRPr lang="en-US" b="1" dirty="0"/>
          </a:p>
          <a:p>
            <a:pPr algn="just"/>
            <a:r>
              <a:rPr lang="en-US" sz="1300" b="1" dirty="0"/>
              <a:t>Types of AI Accelerators in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CNN accelerators</a:t>
            </a:r>
            <a:r>
              <a:rPr lang="en-US" sz="1300" dirty="0"/>
              <a:t> are designed for highly parallel convolution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RNN/LSTM accelerators</a:t>
            </a:r>
            <a:r>
              <a:rPr lang="en-US" sz="1300" dirty="0"/>
              <a:t> are designed for sequential and temporal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Fixed-precision accelerators</a:t>
            </a:r>
            <a:r>
              <a:rPr lang="en-US" sz="1300" dirty="0"/>
              <a:t> execute all operations at a fixed bit-width.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Approximate or device-level adaptive accelerators</a:t>
            </a:r>
            <a:r>
              <a:rPr lang="en-US" sz="1300" dirty="0"/>
              <a:t> reduce power but lack architectural flexibility.</a:t>
            </a:r>
          </a:p>
          <a:p>
            <a:r>
              <a:rPr lang="en-US" sz="1300" dirty="0"/>
              <a:t>These accelerators work well for specific tasks but are not well suited for dynamic edge workloads.</a:t>
            </a:r>
          </a:p>
          <a:p>
            <a:pPr algn="just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US" b="1" dirty="0"/>
              <a:t>Key Limitations/Literature Gaps in Existing Accelerators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4DCD4-032D-1674-0CA2-12B8CC33E35B}"/>
              </a:ext>
            </a:extLst>
          </p:cNvPr>
          <p:cNvSpPr txBox="1"/>
          <p:nvPr/>
        </p:nvSpPr>
        <p:spPr>
          <a:xfrm>
            <a:off x="5054067" y="3720113"/>
            <a:ext cx="4089934" cy="1362075"/>
          </a:xfrm>
          <a:prstGeom prst="roundRect">
            <a:avLst/>
          </a:prstGeom>
          <a:solidFill>
            <a:srgbClr val="EFFED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Single-Mode Operation (CNN or RNN only)</a:t>
            </a:r>
          </a:p>
          <a:p>
            <a:pPr algn="ctr"/>
            <a:r>
              <a:rPr lang="en-US" sz="1200" dirty="0"/>
              <a:t>Many accelerators support either CNN-style parallel processing or RNN-style sequential processing, but not both. As a result, edge systems often need multiple accelerators, increasing silicon area, leakage power, and system complexity.</a:t>
            </a: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E5269903-36F2-E85F-4257-39A1154C32DB}"/>
              </a:ext>
            </a:extLst>
          </p:cNvPr>
          <p:cNvSpPr/>
          <p:nvPr/>
        </p:nvSpPr>
        <p:spPr>
          <a:xfrm>
            <a:off x="3950413" y="3468982"/>
            <a:ext cx="279042" cy="385107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3E00944D-4310-077F-B4DA-7914ED283E1E}"/>
              </a:ext>
            </a:extLst>
          </p:cNvPr>
          <p:cNvSpPr/>
          <p:nvPr/>
        </p:nvSpPr>
        <p:spPr>
          <a:xfrm flipH="1">
            <a:off x="4775024" y="3444342"/>
            <a:ext cx="279042" cy="385107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4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EEB8FB96-580F-95E0-1C86-4F3B5F18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>
            <a:extLst>
              <a:ext uri="{FF2B5EF4-FFF2-40B4-BE49-F238E27FC236}">
                <a16:creationId xmlns:a16="http://schemas.microsoft.com/office/drawing/2014/main" id="{58EF6E97-BBA5-9A59-68C1-15F29BE8EE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IN"/>
              <a:pPr/>
              <a:t>3</a:t>
            </a:fld>
            <a:endParaRPr/>
          </a:p>
        </p:txBody>
      </p:sp>
      <p:sp>
        <p:nvSpPr>
          <p:cNvPr id="179" name="Google Shape;179;p6">
            <a:extLst>
              <a:ext uri="{FF2B5EF4-FFF2-40B4-BE49-F238E27FC236}">
                <a16:creationId xmlns:a16="http://schemas.microsoft.com/office/drawing/2014/main" id="{9C9D1AAE-FF5D-BC76-FCF3-E92F453642A5}"/>
              </a:ext>
            </a:extLst>
          </p:cNvPr>
          <p:cNvSpPr txBox="1"/>
          <p:nvPr/>
        </p:nvSpPr>
        <p:spPr>
          <a:xfrm>
            <a:off x="952270" y="109252"/>
            <a:ext cx="7454900" cy="70739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IN" sz="3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sz="105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59A9F9-CE0A-0FB2-114E-B96A3BD94A87}"/>
              </a:ext>
            </a:extLst>
          </p:cNvPr>
          <p:cNvGraphicFramePr>
            <a:graphicFrameLocks noGrp="1"/>
          </p:cNvGraphicFramePr>
          <p:nvPr/>
        </p:nvGraphicFramePr>
        <p:xfrm>
          <a:off x="195264" y="816642"/>
          <a:ext cx="8817628" cy="413943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1780482433"/>
                    </a:ext>
                  </a:extLst>
                </a:gridCol>
                <a:gridCol w="2912128">
                  <a:extLst>
                    <a:ext uri="{9D8B030D-6E8A-4147-A177-3AD203B41FA5}">
                      <a16:colId xmlns:a16="http://schemas.microsoft.com/office/drawing/2014/main" val="2262207348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1494113756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Paper Name </a:t>
                      </a:r>
                      <a:endParaRPr lang="en-IN" sz="1200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Concept of </a:t>
                      </a:r>
                      <a:r>
                        <a:rPr lang="en-IN" sz="12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Paper</a:t>
                      </a:r>
                      <a:endParaRPr lang="en-IN" sz="1200" b="1" i="0" u="none" strike="noStrike" cap="none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Literature Gap/ Differences</a:t>
                      </a:r>
                      <a:endParaRPr lang="en-IN" sz="1200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35659574"/>
                  </a:ext>
                </a:extLst>
              </a:tr>
              <a:tr h="1355603">
                <a:tc>
                  <a:txBody>
                    <a:bodyPr/>
                    <a:lstStyle/>
                    <a:p>
                      <a:r>
                        <a:rPr lang="en-US" sz="1000" b="1" dirty="0"/>
                        <a:t>[1]</a:t>
                      </a:r>
                      <a:r>
                        <a:rPr lang="en-IN" sz="1000" b="1" dirty="0" err="1"/>
                        <a:t>Armeniakos</a:t>
                      </a:r>
                      <a:r>
                        <a:rPr lang="en-IN" sz="1000" b="1" dirty="0"/>
                        <a:t> et al., 2022</a:t>
                      </a:r>
                    </a:p>
                    <a:p>
                      <a:r>
                        <a:rPr lang="en-IN" sz="1000" dirty="0"/>
                        <a:t>G. </a:t>
                      </a:r>
                      <a:r>
                        <a:rPr lang="en-IN" sz="1000" dirty="0" err="1"/>
                        <a:t>Armeniakos</a:t>
                      </a:r>
                      <a:r>
                        <a:rPr lang="en-IN" sz="1000" dirty="0"/>
                        <a:t>, G. </a:t>
                      </a:r>
                      <a:r>
                        <a:rPr lang="en-IN" sz="1000" dirty="0" err="1"/>
                        <a:t>Zervakis</a:t>
                      </a:r>
                      <a:r>
                        <a:rPr lang="en-IN" sz="1000" dirty="0"/>
                        <a:t>, D. </a:t>
                      </a:r>
                      <a:r>
                        <a:rPr lang="en-IN" sz="1000" dirty="0" err="1"/>
                        <a:t>Soudris</a:t>
                      </a:r>
                      <a:r>
                        <a:rPr lang="en-IN" sz="1000" dirty="0"/>
                        <a:t>, and J. Henkel,</a:t>
                      </a:r>
                      <a:br>
                        <a:rPr lang="en-IN" sz="1000" dirty="0"/>
                      </a:br>
                      <a:r>
                        <a:rPr lang="en-IN" sz="1000" b="0" dirty="0"/>
                        <a:t>“Hardware Approximate Techniques for Deep Neural Network Accelerators: A </a:t>
                      </a:r>
                      <a:r>
                        <a:rPr lang="en-IN" sz="1000" b="0" dirty="0" err="1"/>
                        <a:t>Survey,”</a:t>
                      </a:r>
                      <a:r>
                        <a:rPr lang="en-IN" sz="1000" dirty="0" err="1"/>
                        <a:t>IEEE</a:t>
                      </a:r>
                      <a:r>
                        <a:rPr lang="en-IN" sz="1000" dirty="0"/>
                        <a:t> Transactions on Circuits and Systems I, pp. 1–17, 2022.</a:t>
                      </a:r>
                    </a:p>
                    <a:p>
                      <a:endParaRPr lang="en-IN" sz="1100" dirty="0"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Comprehensive review of approximate adders, multipliers, truncated MACs.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Shows ML workloads (CNN, RNN, LSTM) tolerate arithmetic errors well.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Discusses </a:t>
                      </a:r>
                      <a:r>
                        <a:rPr lang="en-IN" sz="1000" b="0" dirty="0"/>
                        <a:t>bit-width reduction, carry-skip, LSB truncation, low-precision multipliers.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Reports major energy savings (30–70%) with minimal accuracy loss</a:t>
                      </a:r>
                      <a:endParaRPr lang="en-IN" sz="1000" dirty="0"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Works only on </a:t>
                      </a:r>
                      <a:r>
                        <a:rPr lang="en-US" sz="1000" b="0" dirty="0"/>
                        <a:t>one MAC unit → no multi-stream, multi-core array.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No stream/cluster-level control.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Does not include parallel vs sequential mode.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No processor-driven runtime orchestration.</a:t>
                      </a:r>
                      <a:endParaRPr lang="en-IN" sz="1000" dirty="0"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76572945"/>
                  </a:ext>
                </a:extLst>
              </a:tr>
              <a:tr h="1181198">
                <a:tc>
                  <a:txBody>
                    <a:bodyPr/>
                    <a:lstStyle/>
                    <a:p>
                      <a:r>
                        <a:rPr lang="en-IN" sz="1000" b="1" dirty="0"/>
                        <a:t>[2] Li et al., 2024 (Approximate Multi-Granularity MAC)</a:t>
                      </a:r>
                    </a:p>
                    <a:p>
                      <a:r>
                        <a:rPr lang="en-IN" sz="1000" dirty="0"/>
                        <a:t>W. Li, H. Wu, J. Chen, and Y. </a:t>
                      </a:r>
                      <a:r>
                        <a:rPr lang="en-IN" sz="1000" dirty="0" err="1"/>
                        <a:t>Luo</a:t>
                      </a:r>
                      <a:r>
                        <a:rPr lang="en-IN" sz="1000" b="0" dirty="0" err="1"/>
                        <a:t>,“Design</a:t>
                      </a:r>
                      <a:r>
                        <a:rPr lang="en-IN" sz="1000" b="0" dirty="0"/>
                        <a:t> of Approximate Multi-Granularity Multiply-Accumulate Unit,” </a:t>
                      </a:r>
                      <a:r>
                        <a:rPr lang="en-IN" sz="1000" dirty="0"/>
                        <a:t>in Proceedings of the ACM Great Lakes Symposium on VLSI (GLSVLSI), pp. 367–372, 2024.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Implements approximate MACs using </a:t>
                      </a:r>
                      <a:r>
                        <a:rPr lang="en-IN" sz="1000" b="0" dirty="0"/>
                        <a:t>Reconfigurable FETs</a:t>
                      </a:r>
                      <a:r>
                        <a:rPr lang="en-IN" sz="10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Demonstrates significant power savings (~70%) with tolerable ML accuracy drop.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Focused on </a:t>
                      </a:r>
                      <a:r>
                        <a:rPr lang="en-IN" sz="1000" b="0" dirty="0"/>
                        <a:t>CNN inference acceleration</a:t>
                      </a:r>
                      <a:r>
                        <a:rPr lang="en-IN" sz="10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Shows approximate computing is viable for DNN workloads.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US" sz="1000" dirty="0">
                        <a:solidFill>
                          <a:srgbClr val="262626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Only applies approximation at device-level, not architecture-level.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CNN-only; no support for sequential workloads (RNN/LSTM).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No stream-level adaptivity or multi-core configuration.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14455402"/>
                  </a:ext>
                </a:extLst>
              </a:tr>
              <a:tr h="1339748">
                <a:tc>
                  <a:txBody>
                    <a:bodyPr/>
                    <a:lstStyle/>
                    <a:p>
                      <a:r>
                        <a:rPr lang="en-IN" sz="1000" b="1" dirty="0"/>
                        <a:t>[3] Saravanan et al., 2023 (Reconfigurable FET Approx. Accelerator)</a:t>
                      </a:r>
                    </a:p>
                    <a:p>
                      <a:r>
                        <a:rPr lang="en-IN" sz="1000" dirty="0"/>
                        <a:t>R. Saravanan, S. </a:t>
                      </a:r>
                      <a:r>
                        <a:rPr lang="en-IN" sz="1000" dirty="0" err="1"/>
                        <a:t>Bavikadi</a:t>
                      </a:r>
                      <a:r>
                        <a:rPr lang="en-IN" sz="1000" dirty="0"/>
                        <a:t>, S. Rai, A. Kumar, and S. M. P. </a:t>
                      </a:r>
                      <a:r>
                        <a:rPr lang="en-IN" sz="1000" dirty="0" err="1"/>
                        <a:t>Dinakarrao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0" dirty="0"/>
                        <a:t>“Reconfigurable FET Approximate-Computing-Based Accelerator for Deep Learning Applications,”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IEEE Transactions on Electron Devices, vol. 70, no. 7, pp. 3237–3244, 2023.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Implements approximate MACs using Reconfigurable FETs.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Demonstrates significant power savings (~70%) with tolerable ML accuracy drop.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Focused on CNN inference acceleration.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/>
                        <a:t>Shows approximate computing is viable for DNN workloads.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US" sz="1200" dirty="0">
                        <a:solidFill>
                          <a:srgbClr val="262626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/>
                        <a:t>Only applies approximation at device-level, not architecture-level.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/>
                        <a:t>CNN-only; no support for sequential workloads (RNN/LSTM).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dirty="0"/>
                        <a:t>No stream-level adaptivity or multi-core configuration.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55146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18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E9D79DF0-8E31-862A-C571-C2AD6C1E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>
            <a:extLst>
              <a:ext uri="{FF2B5EF4-FFF2-40B4-BE49-F238E27FC236}">
                <a16:creationId xmlns:a16="http://schemas.microsoft.com/office/drawing/2014/main" id="{73B7B4A6-C97C-267E-C356-AA9E5FCE71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en-IN"/>
              <a:pPr/>
              <a:t>4</a:t>
            </a:fld>
            <a:endParaRPr/>
          </a:p>
        </p:txBody>
      </p:sp>
      <p:sp>
        <p:nvSpPr>
          <p:cNvPr id="179" name="Google Shape;179;p6">
            <a:extLst>
              <a:ext uri="{FF2B5EF4-FFF2-40B4-BE49-F238E27FC236}">
                <a16:creationId xmlns:a16="http://schemas.microsoft.com/office/drawing/2014/main" id="{FF35EA6A-810B-62C7-5853-85040CB7875F}"/>
              </a:ext>
            </a:extLst>
          </p:cNvPr>
          <p:cNvSpPr txBox="1"/>
          <p:nvPr/>
        </p:nvSpPr>
        <p:spPr>
          <a:xfrm>
            <a:off x="952270" y="109252"/>
            <a:ext cx="7454900" cy="70739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IN" sz="3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sz="105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A9A9C6-04DD-68B1-E53B-E11F7D5979C4}"/>
              </a:ext>
            </a:extLst>
          </p:cNvPr>
          <p:cNvGraphicFramePr>
            <a:graphicFrameLocks noGrp="1"/>
          </p:cNvGraphicFramePr>
          <p:nvPr/>
        </p:nvGraphicFramePr>
        <p:xfrm>
          <a:off x="224592" y="798976"/>
          <a:ext cx="8788299" cy="4235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929">
                  <a:extLst>
                    <a:ext uri="{9D8B030D-6E8A-4147-A177-3AD203B41FA5}">
                      <a16:colId xmlns:a16="http://schemas.microsoft.com/office/drawing/2014/main" val="1780482433"/>
                    </a:ext>
                  </a:extLst>
                </a:gridCol>
                <a:gridCol w="2902441">
                  <a:extLst>
                    <a:ext uri="{9D8B030D-6E8A-4147-A177-3AD203B41FA5}">
                      <a16:colId xmlns:a16="http://schemas.microsoft.com/office/drawing/2014/main" val="2262207348"/>
                    </a:ext>
                  </a:extLst>
                </a:gridCol>
                <a:gridCol w="2942929">
                  <a:extLst>
                    <a:ext uri="{9D8B030D-6E8A-4147-A177-3AD203B41FA5}">
                      <a16:colId xmlns:a16="http://schemas.microsoft.com/office/drawing/2014/main" val="1494113756"/>
                    </a:ext>
                  </a:extLst>
                </a:gridCol>
              </a:tblGrid>
              <a:tr h="277004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Paper Name </a:t>
                      </a:r>
                      <a:endParaRPr lang="en-IN" sz="1200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Concept of </a:t>
                      </a:r>
                      <a:r>
                        <a:rPr lang="en-IN" sz="12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Paper</a:t>
                      </a:r>
                      <a:endParaRPr lang="en-IN" sz="1200" b="1" i="0" u="none" strike="noStrike" cap="none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Literature Gap/ Differences</a:t>
                      </a:r>
                      <a:endParaRPr lang="en-IN" sz="1200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35659574"/>
                  </a:ext>
                </a:extLst>
              </a:tr>
              <a:tr h="1235112">
                <a:tc>
                  <a:txBody>
                    <a:bodyPr/>
                    <a:lstStyle/>
                    <a:p>
                      <a:r>
                        <a:rPr lang="en-IN" sz="1000" b="1" kern="1200" dirty="0">
                          <a:solidFill>
                            <a:schemeClr val="tx1"/>
                          </a:solidFill>
                          <a:effectLst/>
                        </a:rPr>
                        <a:t>[4]Adaptive approximate computing in arithmetic datapaths 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Mazahir, S., Hasan, O., &amp; Shafique, M. (2018). Adaptive approximate computing in arithmetic datapaths. IEEE Design &amp; Test, 35(4), 65-74.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Uses complementary approximate modules (</a:t>
                      </a:r>
                      <a:r>
                        <a:rPr lang="en-IN" sz="1000" b="0" kern="1200" dirty="0" err="1">
                          <a:solidFill>
                            <a:schemeClr val="tx1"/>
                          </a:solidFill>
                          <a:effectLst/>
                        </a:rPr>
                        <a:t>GeAr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IN" sz="1000" b="0" kern="1200" dirty="0" err="1">
                          <a:solidFill>
                            <a:schemeClr val="tx1"/>
                          </a:solidFill>
                          <a:effectLst/>
                        </a:rPr>
                        <a:t>CGeAr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 adders) in datapaths for error self-cancellation​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Demonstrates adaptive </a:t>
                      </a:r>
                      <a:r>
                        <a:rPr lang="en-IN" sz="1000" b="0" kern="1200" dirty="0" err="1">
                          <a:solidFill>
                            <a:schemeClr val="tx1"/>
                          </a:solidFill>
                          <a:effectLst/>
                        </a:rPr>
                        <a:t>datapath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 with minimal overhead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Focuses on error self-cancellation via complementary modules, not </a:t>
                      </a:r>
                      <a:r>
                        <a:rPr lang="en-IN" sz="1000" b="0" kern="1200" dirty="0" err="1">
                          <a:solidFill>
                            <a:schemeClr val="tx1"/>
                          </a:solidFill>
                          <a:effectLst/>
                        </a:rPr>
                        <a:t>core_enable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 masking​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Lacks </a:t>
                      </a:r>
                      <a:r>
                        <a:rPr lang="en-IN" sz="1000" b="0" kern="1200" dirty="0" err="1">
                          <a:solidFill>
                            <a:schemeClr val="tx1"/>
                          </a:solidFill>
                          <a:effectLst/>
                        </a:rPr>
                        <a:t>quality_mode</a:t>
                      </a: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 precision/truncation control in arithmetic datapaths​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</a:rPr>
                        <a:t>No explicit CNN/RNN parallel-sequential workload modes</a:t>
                      </a:r>
                      <a:endParaRPr lang="en-IN" sz="1000" dirty="0">
                        <a:latin typeface="Bookman Old Style" panose="0205060405050502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76572945"/>
                  </a:ext>
                </a:extLst>
              </a:tr>
              <a:tr h="1361578">
                <a:tc>
                  <a:txBody>
                    <a:bodyPr/>
                    <a:lstStyle/>
                    <a:p>
                      <a:r>
                        <a:rPr lang="en-IN" sz="1000" b="1" dirty="0"/>
                        <a:t>[5] Chen et al., 2017 (</a:t>
                      </a:r>
                      <a:r>
                        <a:rPr lang="en-IN" sz="1000" b="1" dirty="0" err="1"/>
                        <a:t>Eyeriss</a:t>
                      </a:r>
                      <a:r>
                        <a:rPr lang="en-IN" sz="1000" b="1" dirty="0"/>
                        <a:t> – CNN Accelerator)</a:t>
                      </a:r>
                    </a:p>
                    <a:p>
                      <a:r>
                        <a:rPr lang="en-IN" sz="1000" dirty="0"/>
                        <a:t>Y.-H. Chen, T. Krishna, J. Emer, and V. Sze,</a:t>
                      </a:r>
                      <a:br>
                        <a:rPr lang="en-IN" sz="1000" dirty="0"/>
                      </a:br>
                      <a:r>
                        <a:rPr lang="en-IN" sz="1000" b="0" dirty="0"/>
                        <a:t>“</a:t>
                      </a:r>
                      <a:r>
                        <a:rPr lang="en-IN" sz="1000" b="0" dirty="0" err="1"/>
                        <a:t>Eyeriss</a:t>
                      </a:r>
                      <a:r>
                        <a:rPr lang="en-IN" sz="1000" b="0" dirty="0"/>
                        <a:t>: An Energy-Efficient Reconfigurable Accelerator for Deep Convolutional Neural </a:t>
                      </a:r>
                      <a:r>
                        <a:rPr lang="en-IN" sz="1000" b="0" dirty="0" err="1"/>
                        <a:t>Networks,”</a:t>
                      </a:r>
                      <a:r>
                        <a:rPr lang="en-IN" sz="1000" dirty="0" err="1"/>
                        <a:t>IEEE</a:t>
                      </a:r>
                      <a:r>
                        <a:rPr lang="en-IN" sz="1000" dirty="0"/>
                        <a:t> Journal of Solid-State Circuits (JSSC), vol. 52, no. 1, pp. 127–138, 2017.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Implements a spatially optimized </a:t>
                      </a:r>
                      <a:r>
                        <a:rPr lang="en-US" sz="1000" b="0" dirty="0"/>
                        <a:t>CNN-specific accelerator.</a:t>
                      </a:r>
                      <a:endParaRPr lang="en-IN" sz="1000" b="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Uses </a:t>
                      </a:r>
                      <a:r>
                        <a:rPr lang="en-US" sz="1000" b="0" dirty="0"/>
                        <a:t>data reuse and dataflow optimization </a:t>
                      </a:r>
                      <a:r>
                        <a:rPr lang="en-US" sz="1000" dirty="0"/>
                        <a:t>to reduce memory access energy.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Demonstrates high energy efficiency for CNN inference workloads.</a:t>
                      </a:r>
                      <a:endParaRPr lang="en-I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US" sz="1000" dirty="0">
                        <a:solidFill>
                          <a:srgbClr val="262626"/>
                        </a:solidFill>
                        <a:effectLst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/>
                        <a:t>CNN-only architecture; no support for sequential workloads (RNN/LSTM).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/>
                        <a:t>MAC array tightly coupled to convolution dataflow, limiting reuse.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/>
                        <a:t>Requires separate hardware for temporal or recurrent models.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14455402"/>
                  </a:ext>
                </a:extLst>
              </a:tr>
              <a:tr h="1361578">
                <a:tc>
                  <a:txBody>
                    <a:bodyPr/>
                    <a:lstStyle/>
                    <a:p>
                      <a:r>
                        <a:rPr lang="en-IN" sz="1000" b="1" dirty="0"/>
                        <a:t>[6] Han et al., 2017 (ESE – RNN Accelerator)</a:t>
                      </a:r>
                    </a:p>
                    <a:p>
                      <a:r>
                        <a:rPr lang="en-IN" sz="1000" dirty="0"/>
                        <a:t>S. Han, X. Liu, H. Mao, et al.,</a:t>
                      </a:r>
                      <a:br>
                        <a:rPr lang="en-IN" sz="1000" dirty="0"/>
                      </a:br>
                      <a:r>
                        <a:rPr lang="en-IN" sz="1000" b="0" dirty="0"/>
                        <a:t>“ESE: Efficient Speech Recognition Engine with Sparse LSTM on FPGA,”</a:t>
                      </a:r>
                      <a:br>
                        <a:rPr lang="en-IN" sz="1000" b="0" dirty="0"/>
                      </a:br>
                      <a:r>
                        <a:rPr lang="en-IN" sz="1000" b="0" dirty="0"/>
                        <a:t>Proceedings of the International Symposium on Computer Architecture (ISCA), 2017.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Implements a specialized accelerator for RNN/LSTM workloads.</a:t>
                      </a:r>
                      <a:r>
                        <a:rPr lang="en-IN" sz="1000" b="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Optimized for sequential computation and temporal reuse.</a:t>
                      </a:r>
                      <a:r>
                        <a:rPr lang="en-IN" sz="1000" b="0" dirty="0"/>
                        <a:t>Shows approximate computing is viable for DNN workloads.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Well-suited for </a:t>
                      </a:r>
                      <a:r>
                        <a:rPr lang="en-US" sz="1000" b="0" dirty="0"/>
                        <a:t>speech recognition and sequence modeling.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0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US" sz="1000" dirty="0">
                        <a:solidFill>
                          <a:srgbClr val="262626"/>
                        </a:solidFill>
                        <a:effectLst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RNN-only architecture; cannot execute CNN </a:t>
                      </a:r>
                      <a:r>
                        <a:rPr lang="en-US" sz="1000" b="0" dirty="0" err="1"/>
                        <a:t>workloads.CNN</a:t>
                      </a:r>
                      <a:r>
                        <a:rPr lang="en-US" sz="1000" b="0" dirty="0"/>
                        <a:t>-only; no support for sequential workloads (RNN/LSTM).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Requires a separate CNN accelerator for vision-based pipelines.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No unified execution model for mixed CNN–RNN workloads.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55146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84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2BC054AF-6276-BF31-5114-C26B0363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DB092-845A-25C3-940D-0E649C0B9974}"/>
              </a:ext>
            </a:extLst>
          </p:cNvPr>
          <p:cNvSpPr txBox="1"/>
          <p:nvPr/>
        </p:nvSpPr>
        <p:spPr>
          <a:xfrm>
            <a:off x="2782995" y="236935"/>
            <a:ext cx="37337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Gaps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A4574-5FB7-64FA-BFCD-AEE4CE0A506D}"/>
              </a:ext>
            </a:extLst>
          </p:cNvPr>
          <p:cNvSpPr txBox="1"/>
          <p:nvPr/>
        </p:nvSpPr>
        <p:spPr>
          <a:xfrm>
            <a:off x="192881" y="1352550"/>
            <a:ext cx="875823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Existing HDL-based accelerators are generally optimized for either CNN or RNN workloads separately, with limited support for unified hybrid execution.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Many accelerator architectures rely on static hardware configurations and require manual resource allocation and mode selection.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3. Current designs provide limited support for model-aware runtime adaptation based on workload complexity and execution requirements.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4. Efficient integration of parallel CNN execution and sequential RNN/LSTM execution within a single scalable framework remains limited.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072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DA6E935-FAD5-5FEC-F5C8-FDEB35A56999}"/>
              </a:ext>
            </a:extLst>
          </p:cNvPr>
          <p:cNvSpPr txBox="1"/>
          <p:nvPr/>
        </p:nvSpPr>
        <p:spPr>
          <a:xfrm>
            <a:off x="3148695" y="232420"/>
            <a:ext cx="27197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70000B-3C53-35D6-0B15-EC40A5AF744E}"/>
              </a:ext>
            </a:extLst>
          </p:cNvPr>
          <p:cNvSpPr txBox="1"/>
          <p:nvPr/>
        </p:nvSpPr>
        <p:spPr>
          <a:xfrm>
            <a:off x="366443" y="864562"/>
            <a:ext cx="84785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Background</a:t>
            </a:r>
          </a:p>
          <a:p>
            <a:pPr algn="just"/>
            <a:r>
              <a:rPr lang="en-US" dirty="0"/>
              <a:t>In our earlier project on violence detection from video, we observed that the AI model relied on both image-based spatial features (CNN) and time-dependent motion patterns (RNN/LSTM). Running these computations on general-purpose processors caused significant delays and high-power usage on edge devices such as cameras and Raspberry Pi.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Why Hardware Helps:</a:t>
            </a: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Mixed AI workloads involving CNN and RNN require a large number of MAC operations, making software-only execution inefficient and power-hungry for edge devices.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work applies HDL to apply techniques—such as precision adaptivity, selective core activation, and reconfigurable datapaths—to build a hardware-level adaptive accelerator. The proposed architecture supports both parallel CNN-style and sequential RNN-styl</a:t>
            </a:r>
            <a:r>
              <a:rPr lang="en-US" b="1" dirty="0"/>
              <a:t>e</a:t>
            </a:r>
            <a:r>
              <a:rPr lang="en-US" dirty="0"/>
              <a:t> execution on the same compute fabric, while dynamically adjusting precision based on workload needs.</a:t>
            </a:r>
          </a:p>
          <a:p>
            <a:pPr algn="just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24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A3F315-2B5B-8DCA-B311-28B8D18A7574}"/>
              </a:ext>
            </a:extLst>
          </p:cNvPr>
          <p:cNvSpPr txBox="1"/>
          <p:nvPr/>
        </p:nvSpPr>
        <p:spPr>
          <a:xfrm>
            <a:off x="351710" y="434280"/>
            <a:ext cx="8500369" cy="19082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200" b="1" dirty="0">
                <a:latin typeface="Times New Roman"/>
                <a:cs typeface="Times New Roman"/>
              </a:rPr>
              <a:t>Problem Statement</a:t>
            </a:r>
            <a:endParaRPr lang="en-US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/>
              <a:t>Current neural accelerators lack a unified, runtime-adaptive architecture that seamlessly adjusts arithmetic precision and computational mode for both CNN and RNN workloads, resulting in sub-optimal power-performance and reduced efficiency.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0A71560-017D-E49B-5990-72B47A24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DF58B-C704-9842-378E-C03D454BDD0C}"/>
              </a:ext>
            </a:extLst>
          </p:cNvPr>
          <p:cNvSpPr txBox="1"/>
          <p:nvPr/>
        </p:nvSpPr>
        <p:spPr>
          <a:xfrm>
            <a:off x="3040170" y="236935"/>
            <a:ext cx="2494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C7E2E-B92A-13E6-F763-3B9A6EE08FF2}"/>
              </a:ext>
            </a:extLst>
          </p:cNvPr>
          <p:cNvSpPr txBox="1"/>
          <p:nvPr/>
        </p:nvSpPr>
        <p:spPr>
          <a:xfrm>
            <a:off x="96440" y="1473994"/>
            <a:ext cx="89511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To design a model-aware accelerator that dynamically adapts hardware configuration based on input model complexity.	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To enable efficient parallel processing using multi-stream execution with dynamic core allocation per stream.	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To support hybrid execution by integrating both parallel CNN processing and sequential RNN/LSTM processing within a single architecture.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To implement a runtime configuration mechanism that optimizes performance and power by selecting appropriate execution modes and resource usage.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0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95EDB243-3148-8F1D-7B5F-EE44CB68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06FF1-377D-620C-268A-E4379F6A8B51}"/>
              </a:ext>
            </a:extLst>
          </p:cNvPr>
          <p:cNvSpPr txBox="1"/>
          <p:nvPr/>
        </p:nvSpPr>
        <p:spPr>
          <a:xfrm>
            <a:off x="3040170" y="236935"/>
            <a:ext cx="350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CCAE5-2B37-7553-CAD8-EA77B26E42DE}"/>
              </a:ext>
            </a:extLst>
          </p:cNvPr>
          <p:cNvSpPr txBox="1"/>
          <p:nvPr/>
        </p:nvSpPr>
        <p:spPr>
          <a:xfrm>
            <a:off x="53335" y="1273969"/>
            <a:ext cx="473987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Python - </a:t>
            </a:r>
            <a:r>
              <a:rPr lang="en-US" dirty="0"/>
              <a:t>Main programming language for project integration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PyTorch</a:t>
            </a:r>
            <a:r>
              <a:rPr lang="en-US" b="1" dirty="0"/>
              <a:t> - </a:t>
            </a:r>
            <a:r>
              <a:rPr lang="en-US" dirty="0"/>
              <a:t>Used to build and train the CNN and RNN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Verilator</a:t>
            </a:r>
            <a:r>
              <a:rPr lang="en-IN" b="1" dirty="0"/>
              <a:t> - </a:t>
            </a:r>
            <a:r>
              <a:rPr lang="en-IN" dirty="0"/>
              <a:t>Converts </a:t>
            </a:r>
            <a:r>
              <a:rPr lang="en-IN" dirty="0" err="1"/>
              <a:t>SystemVerilog</a:t>
            </a:r>
            <a:r>
              <a:rPr lang="en-IN" dirty="0"/>
              <a:t> RTL into C++ simulation models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 Windows Subsystem for Linux (WSL) -</a:t>
            </a:r>
            <a:r>
              <a:rPr lang="en-IN" dirty="0"/>
              <a:t>Provides a Linux environment for running system </a:t>
            </a:r>
            <a:r>
              <a:rPr lang="en-IN" dirty="0" err="1"/>
              <a:t>verilog</a:t>
            </a:r>
            <a:r>
              <a:rPr lang="en-IN" dirty="0"/>
              <a:t>-generated executables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NumPy - </a:t>
            </a:r>
            <a:r>
              <a:rPr lang="en-US" dirty="0"/>
              <a:t>Used for numerical computations and matrix operations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CA030-9E6D-DF70-EC6F-88C670797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4" y="1467263"/>
            <a:ext cx="3105795" cy="237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2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4B25-CDA5-2F73-247F-7912C6E4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AB0F5F-330C-F1BD-3E26-FB3F01B25BBC}"/>
              </a:ext>
            </a:extLst>
          </p:cNvPr>
          <p:cNvSpPr txBox="1"/>
          <p:nvPr/>
        </p:nvSpPr>
        <p:spPr>
          <a:xfrm>
            <a:off x="2795711" y="96856"/>
            <a:ext cx="43043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Accelerator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4D419-8690-9977-7031-0625D9A21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00" y="725016"/>
            <a:ext cx="6227199" cy="441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9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A0ED-56FE-850B-6635-320E575D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77DB7C-9FAA-2EC0-D2A8-70D062DE5575}"/>
              </a:ext>
            </a:extLst>
          </p:cNvPr>
          <p:cNvSpPr txBox="1"/>
          <p:nvPr/>
        </p:nvSpPr>
        <p:spPr>
          <a:xfrm>
            <a:off x="1700060" y="0"/>
            <a:ext cx="57438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CNN-Hardware Inference </a:t>
            </a:r>
            <a:r>
              <a:rPr lang="en-IN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Pipline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FD3F45-B39D-8B80-9DF8-BE817859C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507"/>
            <a:ext cx="9117322" cy="42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1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BA2A-F9FE-E775-76C5-ED1D167A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7975D7-A518-3EF6-7293-B3BAFD597997}"/>
              </a:ext>
            </a:extLst>
          </p:cNvPr>
          <p:cNvSpPr txBox="1"/>
          <p:nvPr/>
        </p:nvSpPr>
        <p:spPr>
          <a:xfrm>
            <a:off x="1678628" y="414337"/>
            <a:ext cx="5527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RNN-Hardware Inference Pipeline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DA099E-9703-20EC-371B-B5836331A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" y="1134281"/>
            <a:ext cx="9124202" cy="375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8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97DB-BB9E-68CA-D99D-9B472267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346D4-7C1D-C577-67FA-0DE9A6AD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0"/>
            <a:ext cx="8636794" cy="502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5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DC21-D2CB-9494-9F29-954CE665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D978F2-752C-699D-FD2C-4675869C4334}"/>
              </a:ext>
            </a:extLst>
          </p:cNvPr>
          <p:cNvSpPr txBox="1"/>
          <p:nvPr/>
        </p:nvSpPr>
        <p:spPr>
          <a:xfrm>
            <a:off x="1478044" y="557213"/>
            <a:ext cx="6187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Prediction Software vs Hardware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AC08C-F9A2-CD29-F7B0-7DD09E0B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86"/>
          <a:stretch>
            <a:fillRect/>
          </a:stretch>
        </p:blipFill>
        <p:spPr>
          <a:xfrm>
            <a:off x="1100138" y="1444113"/>
            <a:ext cx="2786062" cy="2751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18F4-250A-1BE9-A9FD-CCD53E5C3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794" y="1193007"/>
            <a:ext cx="2157411" cy="361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7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DA67-9B03-BCD9-167F-B3197D98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7800A-4494-AAB7-649A-978C6A45BB5D}"/>
              </a:ext>
            </a:extLst>
          </p:cNvPr>
          <p:cNvSpPr txBox="1"/>
          <p:nvPr/>
        </p:nvSpPr>
        <p:spPr>
          <a:xfrm>
            <a:off x="1478044" y="614363"/>
            <a:ext cx="6187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Core and INT-Precision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FFFDA-1351-E0BC-EE04-543EECEF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09" y="1137583"/>
            <a:ext cx="6346381" cy="38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2CDC-D0F3-3302-52C0-EABEB493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8995D-C35D-17E8-4837-76AEF16381A9}"/>
              </a:ext>
            </a:extLst>
          </p:cNvPr>
          <p:cNvSpPr txBox="1"/>
          <p:nvPr/>
        </p:nvSpPr>
        <p:spPr>
          <a:xfrm>
            <a:off x="1478044" y="557213"/>
            <a:ext cx="6187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Prediction Software vs Hardware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A6FC0-5E68-5DFB-B90C-7145096B1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" y="1053584"/>
            <a:ext cx="8158163" cy="403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89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71CA0-B8ED-3F76-5313-7631E4B8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CCE49D-53E2-A4E6-D6EC-CA262891D408}"/>
              </a:ext>
            </a:extLst>
          </p:cNvPr>
          <p:cNvSpPr txBox="1"/>
          <p:nvPr/>
        </p:nvSpPr>
        <p:spPr>
          <a:xfrm>
            <a:off x="1435182" y="635794"/>
            <a:ext cx="6426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Core and INT – Precision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B63A5-DB56-29C9-E81F-27EAE53F7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302"/>
          <a:stretch>
            <a:fillRect/>
          </a:stretch>
        </p:blipFill>
        <p:spPr>
          <a:xfrm>
            <a:off x="5647648" y="2436019"/>
            <a:ext cx="3424913" cy="105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947E5-8AFE-3C3B-B548-BC80DE1F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" y="1347460"/>
            <a:ext cx="5572125" cy="339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5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EAE7EA18-266D-48B9-177D-889ADEA8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FBE8D-CE31-A0F4-48F6-3F944780A655}"/>
              </a:ext>
            </a:extLst>
          </p:cNvPr>
          <p:cNvSpPr txBox="1"/>
          <p:nvPr/>
        </p:nvSpPr>
        <p:spPr>
          <a:xfrm>
            <a:off x="3040170" y="203597"/>
            <a:ext cx="30636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430F3-C573-89B7-947B-9B4413BC7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8" y="1037755"/>
            <a:ext cx="8953501" cy="390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78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Blue Images – Browse 204,046 Stock Photos, Vectors ...">
            <a:extLst>
              <a:ext uri="{FF2B5EF4-FFF2-40B4-BE49-F238E27FC236}">
                <a16:creationId xmlns:a16="http://schemas.microsoft.com/office/drawing/2014/main" id="{ADAA903A-FE73-11C7-8CCF-4042714B9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0"/>
            <a:ext cx="913479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52B80C-07C0-B2E8-FCBE-5F7C70703E3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04"/>
          <a:stretch/>
        </p:blipFill>
        <p:spPr>
          <a:xfrm>
            <a:off x="113377" y="87572"/>
            <a:ext cx="788450" cy="74573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745653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1D4FFE-786F-46C5-8A9D-0C035F9E3273}">
  <we:reference id="wa104381063" version="1.0.0.1" store="en-GB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1421</Words>
  <Application>Microsoft Office PowerPoint</Application>
  <PresentationFormat>On-screen Show (16:9)</PresentationFormat>
  <Paragraphs>139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Bookman Old Style</vt:lpstr>
      <vt:lpstr>Calibri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Krishna Saini</cp:lastModifiedBy>
  <cp:revision>108</cp:revision>
  <dcterms:modified xsi:type="dcterms:W3CDTF">2026-06-23T18:46:18Z</dcterms:modified>
</cp:coreProperties>
</file>